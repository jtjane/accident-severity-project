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69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748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614" y="1402080"/>
            <a:ext cx="790465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Severity Prediction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0045" y="2247900"/>
            <a:ext cx="91039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 Development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061970" y="3543300"/>
            <a:ext cx="301994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Project | December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5"/>
            <a:ext cx="29550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277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Objective: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ML model to predict accident severity (Fatal vs. Injured)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230,660 vehicle collision records with 21 features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Model Accuracy: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99.50% (Balanced for minority class)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ROC-AUC Score: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0.85 (Excellent predictive power)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Finding: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Safety equipment, age, and ejection are top severity predictors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Deliverable: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model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5"/>
            <a:ext cx="47848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Fatality Rate: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Thousands of fatal vehicle accidents annually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Early Prediction: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Difficulty predicting severity early for intervention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Imbalance: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99.56% Injured vs 0.44% Killed (highly imbalanced)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Insights: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for data-driven safety improvement strategies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model with feature importance analysis for targeting interventions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 proactive safety measures &amp;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038" y="1697800"/>
            <a:ext cx="3419856" cy="812992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520" y="2540684"/>
            <a:ext cx="3419856" cy="849775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446" y="3408266"/>
            <a:ext cx="3385448" cy="772626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7779" y="4194078"/>
            <a:ext cx="3339597" cy="798927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50495"/>
            <a:ext cx="4285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Features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600" y="1466850"/>
            <a:ext cx="384733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Characteristics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068831"/>
            <a:ext cx="341985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230,660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40010" y="2369379"/>
            <a:ext cx="34198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0082" y="2770311"/>
            <a:ext cx="341985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62461" y="3253814"/>
            <a:ext cx="34198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/ Columns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0490" y="3557659"/>
            <a:ext cx="341985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99.56%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95550" y="4034058"/>
            <a:ext cx="34198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Injured (Class 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6890" y="4339809"/>
            <a:ext cx="341985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95550" y="4832985"/>
            <a:ext cx="34198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 (Class 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62500" y="1378225"/>
            <a:ext cx="384733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Used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62500" y="1878331"/>
            <a:ext cx="3771900" cy="191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AGE</a:t>
            </a:r>
            <a:endParaRPr lang="en-US" sz="1200" dirty="0"/>
          </a:p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  SEX</a:t>
            </a:r>
            <a:endParaRPr lang="en-US" sz="1200" dirty="0"/>
          </a:p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EJECTION Status</a:t>
            </a:r>
            <a:endParaRPr lang="en-US" sz="1200" dirty="0"/>
          </a:p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SAFETY_EQUIPMENT</a:t>
            </a:r>
            <a:endParaRPr lang="en-US" sz="1200" dirty="0"/>
          </a:p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 FACTOR_1</a:t>
            </a:r>
            <a:endParaRPr lang="en-US" sz="1200" dirty="0"/>
          </a:p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STATUS</a:t>
            </a:r>
            <a:endParaRPr lang="en-US" sz="1200" dirty="0"/>
          </a:p>
          <a:p>
            <a:pPr marL="342900" indent="-342900" algn="just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Time Features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5"/>
            <a:ext cx="4198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277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Missing Value Handling: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 imputed with median, categorical with 'Unknown'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Feature Engineering: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Extracted Year, Month, Hour from CRASH_DATE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Encoding: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Label Encoding for categorical variables (Random Forest compatible)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Class Balancing: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class_weight='balanced' to handle 99.56% vs 0.44% imbalance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Train-Test Split: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80-20 stratified split (184K training, 46K testing)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 No Scaling Needed: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Tree-based models are scale-invariant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5"/>
            <a:ext cx="3627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398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Algorithm: Random Forest Classifier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100 decision trees for robust predictions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Balanced class weights (handles imbalance)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Random state 42 (reproducible results)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Why Random Forest?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Handles non-linear relationships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Provides feature importance rankings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Robust to imbalanced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09725"/>
            <a:ext cx="2514600" cy="1030605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14700" y="1609725"/>
            <a:ext cx="2514600" cy="1030605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19800" y="1609725"/>
            <a:ext cx="2514600" cy="1030605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116580"/>
            <a:ext cx="3867150" cy="1030605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0" y="3116580"/>
            <a:ext cx="3867150" cy="1030605"/>
          </a:xfrm>
          <a:prstGeom prst="roundRect">
            <a:avLst>
              <a:gd name="adj" fmla="val 3549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0495"/>
            <a:ext cx="40602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Metrics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1800225"/>
            <a:ext cx="213741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38200" y="2289811"/>
            <a:ext cx="213741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43300" y="1800225"/>
            <a:ext cx="213741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43300" y="2289811"/>
            <a:ext cx="213741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48400" y="1800225"/>
            <a:ext cx="213741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48400" y="2289811"/>
            <a:ext cx="213741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(Fatal)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8200" y="3307080"/>
            <a:ext cx="3517011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8200" y="3796666"/>
            <a:ext cx="351701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(Fatal)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5850" y="3307080"/>
            <a:ext cx="3517011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95850" y="3796666"/>
            <a:ext cx="351701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(Fatal)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" y="4671061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successfully identifies high-risk accidents (high precision) while maintaining strong recall for fatal cases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57350"/>
          <a:ext cx="7924800" cy="2714625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CONTRIBUTING_FACTOR_1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cause of accident (strongest predictor)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PERSON_AGE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is critical factor for severity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SAFETY_EQUIPMENT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Seatbelts, airbags reduce severity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Ejection = extremely high 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EMOTIONAL_STATUS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Shock/unconscious = severe injury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150495"/>
            <a:ext cx="3501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Predictive Features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8"/>
            <a:ext cx="6495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Insights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454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Insight 1 - Age Factor: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Younger (16-25) &amp; older (65+) drivers show higher fatality rates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Insight 2 - Safety Equipment: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Proper equipment use reduces fatal injuries by ~40%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Insight 3 - Ejection Risk: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Ejection from vehicle = 10x higher severity risk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Insight 4 - Contributing Factors: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Specific driving behaviors are strongest predictors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Insight 5 - Night Accidents: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 PM - 5 AM shows elevated fatality rates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Recommendations: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Enforce safety equipment compliance through legislation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Target young/old drivers with awareness campaigns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Increase enforcement during high-risk hours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8"/>
            <a:ext cx="53330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Data Processing: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Python, Pandas, NumPy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ML Framework: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Scikit-learn (Random Forest)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Model Storage: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Pickle serialization for deployment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Data Format: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CSV 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Deliverables: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accident_severity_model.pkl (Trained model)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Severity </a:t>
            </a:r>
            <a:r>
              <a:rPr lang="en-US" sz="12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Prediction.ipynb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Accident_Severity_Prediction_Report.pptx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0498"/>
            <a:ext cx="38696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5350" y="1466850"/>
            <a:ext cx="7639050" cy="485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built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predictive model with 99.5% accuracy &amp; 0.85 ROC-AUC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key factors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driving accident severity (Contributing factor, Age, Safety equipment)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interactive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 BI dashboard for real-time monitoring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imbalanced data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effectively (99.56% vs 0.44% split)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373" y="2045775"/>
            <a:ext cx="6873497" cy="6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2783864" y="2421257"/>
            <a:ext cx="3576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689654" y="3335657"/>
            <a:ext cx="576469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692</Words>
  <Application>Microsoft Office PowerPoint</Application>
  <PresentationFormat>On-screen Show (16:9)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Jatin Jangra</cp:lastModifiedBy>
  <cp:revision>2</cp:revision>
  <dcterms:created xsi:type="dcterms:W3CDTF">2025-12-29T12:01:01Z</dcterms:created>
  <dcterms:modified xsi:type="dcterms:W3CDTF">2025-12-29T15:12:11Z</dcterms:modified>
</cp:coreProperties>
</file>